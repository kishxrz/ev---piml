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4A3B8"/>
                </a:solidFill>
                <a:latin typeface="Arial"/>
              </a:defRPr>
            </a:pPr>
            <a:r>
              <a:t>SRM INSTITUTE OF SCIENCE AND TECHNOLOGY</a:t>
            </a:r>
          </a:p>
          <a:p>
            <a:pPr>
              <a:defRPr sz="1250" b="1">
                <a:solidFill>
                  <a:srgbClr val="38BDF8"/>
                </a:solidFill>
                <a:latin typeface="Arial"/>
              </a:defRPr>
            </a:pPr>
            <a:r>
              <a:t>RAMAPURAM CAMPUS, CHENNAI | DEPARTMENT OF CSE (AIML)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Physics-Informed Machine Learning (PIML)</a:t>
            </a:r>
            <a:br/>
            <a:r>
              <a:t>for Electric Vehicle Range Prediction &amp; 3D Cockpit</a:t>
            </a:r>
          </a:p>
          <a:p>
            <a:pPr>
              <a:spcBef>
                <a:spcPts val="1200"/>
              </a:spcBef>
              <a:defRPr sz="1700">
                <a:solidFill>
                  <a:srgbClr val="CBD5E1"/>
                </a:solidFill>
                <a:latin typeface="Arial"/>
              </a:defRPr>
            </a:pPr>
            <a:r>
              <a:t>A Multi-Physics Predictive Engine Grounded in Thermodynamics, Aerodynamics, and Automotive Telemetry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3364992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299923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PROJECT DOMAIN</a:t>
            </a:r>
          </a:p>
          <a:p>
            <a:pPr>
              <a:defRPr sz="1300">
                <a:solidFill>
                  <a:srgbClr val="FFFFFF"/>
                </a:solidFill>
                <a:latin typeface="Arial"/>
              </a:defRPr>
            </a:pPr>
            <a:r>
              <a:t>Automotive AI &amp; PIML</a:t>
            </a:r>
            <a:br/>
            <a:r>
              <a:t>Degree: B.Tech CSE (AIML)</a:t>
            </a:r>
            <a:br/>
            <a:r>
              <a:t>Academic Year: 2025–2026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4297680"/>
            <a:ext cx="3364992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4434840"/>
            <a:ext cx="299923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PRESENTED BY</a:t>
            </a:r>
          </a:p>
          <a:p>
            <a:pPr>
              <a:defRPr sz="1300">
                <a:solidFill>
                  <a:srgbClr val="FFFFFF"/>
                </a:solidFill>
                <a:latin typeface="Arial"/>
              </a:defRPr>
            </a:pPr>
            <a:r>
              <a:t>Student: Kishore M &amp; Team</a:t>
            </a:r>
            <a:br/>
            <a:r>
              <a:t>Specialization: AI &amp; Machine Learning</a:t>
            </a:r>
            <a:br/>
            <a:r>
              <a:t>SRM IST Ramapuram Campus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297680"/>
            <a:ext cx="3364992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4434840"/>
            <a:ext cx="299923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ACADEMIC ADVISORY</a:t>
            </a:r>
          </a:p>
          <a:p>
            <a:pPr>
              <a:defRPr sz="1300">
                <a:solidFill>
                  <a:srgbClr val="FFFFFF"/>
                </a:solidFill>
                <a:latin typeface="Arial"/>
              </a:defRPr>
            </a:pPr>
            <a:r>
              <a:t>Faculty Project Review Committee</a:t>
            </a:r>
            <a:br/>
            <a:r>
              <a:t>Department of CSE (AIML)</a:t>
            </a:r>
            <a:br/>
            <a:r>
              <a:t>SRM IST, Chennai - 600089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365760"/>
            <a:ext cx="5333695" cy="365760"/>
          </a:xfrm>
          <a:prstGeom prst="rect">
            <a:avLst/>
          </a:prstGeom>
          <a:noFill/>
        </p:spPr>
        <p:txBody>
          <a:bodyPr wrap="square" t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DEPARTMENT OF CSE w/s in AIML | SRM IST Ramapuram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Abstract &amp; 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43584"/>
            <a:ext cx="10728655" cy="3200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Physics-Informed Machine Learning (PIML) for EV Range Estimation &amp; 3D Cockpit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64992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299923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1. Real-World Discrepancy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Range Anxiety: </a:t>
            </a:r>
            <a:r>
              <a:rPr>
                <a:solidFill>
                  <a:srgbClr val="334155"/>
                </a:solidFill>
              </a:rPr>
              <a:t>Standardized OEM test ratings (WLTP/EPA) diverge by 15%–35% from real-world road conditions.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Heuristic Flaws: </a:t>
            </a:r>
            <a:r>
              <a:rPr>
                <a:solidFill>
                  <a:srgbClr val="334155"/>
                </a:solidFill>
              </a:rPr>
              <a:t>Current in-dash Distance-to-Empty (DTE) gauges use volatile moving averages, causing erratic jumps during elevation or high speed.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Black-Box Trap: </a:t>
            </a:r>
            <a:r>
              <a:rPr>
                <a:solidFill>
                  <a:srgbClr val="334155"/>
                </a:solidFill>
              </a:rPr>
              <a:t>Unconstrained machine learning models often predict physically impossible outputs in out-of-distribution driving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463040"/>
            <a:ext cx="3364992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645920"/>
            <a:ext cx="299923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2. Physics-Informed ML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First Principles: </a:t>
            </a:r>
            <a:r>
              <a:rPr>
                <a:solidFill>
                  <a:srgbClr val="334155"/>
                </a:solidFill>
              </a:rPr>
              <a:t>Formulated 4 mathematical features: Thermodynamic Energy Ceiling, Aero Drag Index, C-rate Thermal Stress, and Inverter Intensity.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Zero Data Leakage: </a:t>
            </a:r>
            <a:r>
              <a:rPr>
                <a:solidFill>
                  <a:srgbClr val="334155"/>
                </a:solidFill>
              </a:rPr>
              <a:t>Trained on an 80/20 train-test split across multi-manufacturer 2025 EV specifications.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Champion Metrics: </a:t>
            </a:r>
            <a:r>
              <a:rPr>
                <a:solidFill>
                  <a:srgbClr val="334155"/>
                </a:solidFill>
              </a:rPr>
              <a:t>Ensemble Random Forest achieves R² = 0.9571, MAE = 15.88 km, and RMSE = 21.30 km on completely unseen vehicles.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63040"/>
            <a:ext cx="3364992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299923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3. Full-Stack Digital Twin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Microservice API: </a:t>
            </a:r>
            <a:r>
              <a:rPr>
                <a:solidFill>
                  <a:srgbClr val="334155"/>
                </a:solidFill>
              </a:rPr>
              <a:t>Packaged pipeline into an asynchronous FastAPI backend delivering sub-15ms inference latency.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3D React Cockpit: </a:t>
            </a:r>
            <a:r>
              <a:rPr>
                <a:solidFill>
                  <a:srgbClr val="334155"/>
                </a:solidFill>
              </a:rPr>
              <a:t>Interactive Three.js digital cockpit featuring rotatable vehicle chassis and glowing battery pack status.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Dual-Arc Telemetry: </a:t>
            </a:r>
            <a:r>
              <a:rPr>
                <a:solidFill>
                  <a:srgbClr val="334155"/>
                </a:solidFill>
              </a:rPr>
              <a:t>Real-time range estimation and battery stress visualization for actionable driver feedback.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365760"/>
            <a:ext cx="5333695" cy="365760"/>
          </a:xfrm>
          <a:prstGeom prst="rect">
            <a:avLst/>
          </a:prstGeom>
          <a:noFill/>
        </p:spPr>
        <p:txBody>
          <a:bodyPr wrap="square" t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DEPARTMENT OF CSE w/s in AIML | SRM IST Ramapuram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CONTEXT &amp;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Scope &amp; Motivation of the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43584"/>
            <a:ext cx="10728655" cy="3200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Physics-Informed Machine Learning (PIML) for EV Range Estimation &amp; 3D Cockpit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75504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Core Motivations Driving the Study</a:t>
            </a:r>
          </a:p>
          <a:p>
            <a:pPr>
              <a:spcAft>
                <a:spcPts val="1200"/>
              </a:spcAft>
              <a:defRPr sz="15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1. Rapid Global EV Adoption: </a:t>
            </a:r>
            <a:r>
              <a:rPr>
                <a:solidFill>
                  <a:srgbClr val="334155"/>
                </a:solidFill>
              </a:rPr>
              <a:t>Electric vehicle adoption has exceeded 30% YoY, yet consumer range anxiety remains the #1 bottleneck to mass market transition.</a:t>
            </a:r>
          </a:p>
          <a:p>
            <a:pPr>
              <a:spcAft>
                <a:spcPts val="1200"/>
              </a:spcAft>
              <a:defRPr sz="15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2. Limitations of OEM DTE Algorithms: </a:t>
            </a:r>
            <a:r>
              <a:rPr>
                <a:solidFill>
                  <a:srgbClr val="334155"/>
                </a:solidFill>
              </a:rPr>
              <a:t>Existing in-dash Distance-to-Empty systems calculate range via trailing moving averages of recent consumption, resulting in severe lag on highway ramps.</a:t>
            </a:r>
          </a:p>
          <a:p>
            <a:pPr>
              <a:spcAft>
                <a:spcPts val="1200"/>
              </a:spcAft>
              <a:defRPr sz="15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3. Thermal &amp; Charging Impact: </a:t>
            </a:r>
            <a:r>
              <a:rPr>
                <a:solidFill>
                  <a:srgbClr val="334155"/>
                </a:solidFill>
              </a:rPr>
              <a:t>High-power DC fast-charging stress and battery C-rates heavily alter pack internal resistance, which pure statistical models ignore.</a:t>
            </a:r>
          </a:p>
          <a:p>
            <a:pPr>
              <a:spcAft>
                <a:spcPts val="1200"/>
              </a:spcAft>
              <a:defRPr sz="15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4. The Need for Explainability: </a:t>
            </a:r>
            <a:r>
              <a:rPr>
                <a:solidFill>
                  <a:srgbClr val="334155"/>
                </a:solidFill>
              </a:rPr>
              <a:t>Automotive engineers require models that obey physical laws rather than uninterpretable neural network weights.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463040"/>
            <a:ext cx="5175504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6459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Defined Research &amp; Engineering Scope</a:t>
            </a:r>
          </a:p>
          <a:p>
            <a:pPr>
              <a:spcAft>
                <a:spcPts val="1200"/>
              </a:spcAft>
              <a:defRPr sz="15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Comprehensive Feature Modeling: </a:t>
            </a:r>
            <a:r>
              <a:rPr>
                <a:solidFill>
                  <a:srgbClr val="334155"/>
                </a:solidFill>
              </a:rPr>
              <a:t>Encompasses vehicular aerodynamics, body shapes (SUV, Sedan, Hatchback), battery capacities, powertrain architectures, and C-rates.</a:t>
            </a:r>
          </a:p>
          <a:p>
            <a:pPr>
              <a:spcAft>
                <a:spcPts val="1200"/>
              </a:spcAft>
              <a:defRPr sz="15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Scikit-Learn Production Pipeline: </a:t>
            </a:r>
            <a:r>
              <a:rPr>
                <a:solidFill>
                  <a:srgbClr val="334155"/>
                </a:solidFill>
              </a:rPr>
              <a:t>Includes median missing-value imputation, standard scaling, and one-hot encoding with strict train-test separation.</a:t>
            </a:r>
          </a:p>
          <a:p>
            <a:pPr>
              <a:spcAft>
                <a:spcPts val="1200"/>
              </a:spcAft>
              <a:defRPr sz="15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Rigorous Multi-Model Benchmarking: </a:t>
            </a:r>
            <a:r>
              <a:rPr>
                <a:solidFill>
                  <a:srgbClr val="334155"/>
                </a:solidFill>
              </a:rPr>
              <a:t>Quantitative performance comparison of Linear Ridge Regression against Random Forest Regressors.</a:t>
            </a:r>
          </a:p>
          <a:p>
            <a:pPr>
              <a:spcAft>
                <a:spcPts val="1200"/>
              </a:spcAft>
              <a:defRPr sz="15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Automotive Digital Twin Deployment: </a:t>
            </a:r>
            <a:r>
              <a:rPr>
                <a:solidFill>
                  <a:srgbClr val="334155"/>
                </a:solidFill>
              </a:rPr>
              <a:t>Production release with FastAPI and an interactive Three.js 3D web application deployed for real-time user experimentation.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365760"/>
            <a:ext cx="5333695" cy="365760"/>
          </a:xfrm>
          <a:prstGeom prst="rect">
            <a:avLst/>
          </a:prstGeom>
          <a:noFill/>
        </p:spPr>
        <p:txBody>
          <a:bodyPr wrap="square" t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DEPARTMENT OF CSE w/s in AIML | SRM IST Ramapuram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THEORETICAL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Introduction: EV Dynamics &amp; PIML Synergy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43584"/>
            <a:ext cx="10728655" cy="3200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Physics-Informed Machine Learning (PIML) for EV Range Estimation &amp; 3D Cockpit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64992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299923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Electrochemical Realities</a:t>
            </a:r>
          </a:p>
          <a:p>
            <a:pPr>
              <a:spcAft>
                <a:spcPts val="1000"/>
              </a:spcAft>
              <a:defRPr sz="14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Energy Density Gap: </a:t>
            </a:r>
            <a:r>
              <a:rPr>
                <a:solidFill>
                  <a:srgbClr val="334155"/>
                </a:solidFill>
              </a:rPr>
              <a:t>Modern Li-ion battery packs store ~150-250 Wh/kg, which is approximately 60x lower than petroleum fuels (~12,000 Wh/kg).</a:t>
            </a:r>
          </a:p>
          <a:p>
            <a:pPr>
              <a:spcAft>
                <a:spcPts val="1000"/>
              </a:spcAft>
              <a:defRPr sz="14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Zero Margin for Error: </a:t>
            </a:r>
            <a:r>
              <a:rPr>
                <a:solidFill>
                  <a:srgbClr val="334155"/>
                </a:solidFill>
              </a:rPr>
              <a:t>Because energy storage is constrained, every watt-hour lost to aerodynamic drag or inverter losses directly reduces driving range.</a:t>
            </a:r>
          </a:p>
          <a:p>
            <a:pPr>
              <a:spcAft>
                <a:spcPts val="1000"/>
              </a:spcAft>
              <a:defRPr sz="14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Dynamic Discrepancy: </a:t>
            </a:r>
            <a:r>
              <a:rPr>
                <a:solidFill>
                  <a:srgbClr val="334155"/>
                </a:solidFill>
              </a:rPr>
              <a:t>Standard test cycles (WLTP/EPA) fail to reflect high-speed aerodynamic drag and thermal fast-charging stress.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463040"/>
            <a:ext cx="3364992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645920"/>
            <a:ext cx="299923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Why Physics-Informed ML?</a:t>
            </a:r>
          </a:p>
          <a:p>
            <a:pPr>
              <a:spcAft>
                <a:spcPts val="1000"/>
              </a:spcAft>
              <a:defRPr sz="14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Data-Driven Pitfalls: </a:t>
            </a:r>
            <a:r>
              <a:rPr>
                <a:solidFill>
                  <a:srgbClr val="334155"/>
                </a:solidFill>
              </a:rPr>
              <a:t>Standard regression models rely solely on statistical correlations, often predicting range estimates that violate conservation of energy.</a:t>
            </a:r>
          </a:p>
          <a:p>
            <a:pPr>
              <a:spcAft>
                <a:spcPts val="1000"/>
              </a:spcAft>
              <a:defRPr sz="14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First-Principles Grounding: </a:t>
            </a:r>
            <a:r>
              <a:rPr>
                <a:solidFill>
                  <a:srgbClr val="334155"/>
                </a:solidFill>
              </a:rPr>
              <a:t>PIML injects known physical relationships (thermodynamics, aerodynamic drag equations) into model training.</a:t>
            </a:r>
          </a:p>
          <a:p>
            <a:pPr>
              <a:spcAft>
                <a:spcPts val="1000"/>
              </a:spcAft>
              <a:defRPr sz="14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Superior Generalizability: </a:t>
            </a:r>
            <a:r>
              <a:rPr>
                <a:solidFill>
                  <a:srgbClr val="334155"/>
                </a:solidFill>
              </a:rPr>
              <a:t>Enforces boundary conditions and ensures robust predictions on unseen vehicle configurations.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63040"/>
            <a:ext cx="3364992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299923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Digital Twin Integration</a:t>
            </a:r>
          </a:p>
          <a:p>
            <a:pPr>
              <a:spcAft>
                <a:spcPts val="1000"/>
              </a:spcAft>
              <a:defRPr sz="14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Beyond Static Research: </a:t>
            </a:r>
            <a:r>
              <a:rPr>
                <a:solidFill>
                  <a:srgbClr val="334155"/>
                </a:solidFill>
              </a:rPr>
              <a:t>Academic ML research often terminates at offline Python scripts; this project builds a complete production-grade system.</a:t>
            </a:r>
          </a:p>
          <a:p>
            <a:pPr>
              <a:spcAft>
                <a:spcPts val="1000"/>
              </a:spcAft>
              <a:defRPr sz="14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Live Parameter Tuning: </a:t>
            </a:r>
            <a:r>
              <a:rPr>
                <a:solidFill>
                  <a:srgbClr val="334155"/>
                </a:solidFill>
              </a:rPr>
              <a:t>Drivers and engineers can adjust battery capacity, top speeds, and body types with immediate real-time feedback.</a:t>
            </a:r>
          </a:p>
          <a:p>
            <a:pPr>
              <a:spcAft>
                <a:spcPts val="1000"/>
              </a:spcAft>
              <a:defRPr sz="14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Automotive UX: </a:t>
            </a:r>
            <a:r>
              <a:rPr>
                <a:solidFill>
                  <a:srgbClr val="334155"/>
                </a:solidFill>
              </a:rPr>
              <a:t>Integrates a Three.js 3D chassis visualization with dual-arc telemetry gauges for intuitive comprehension.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365760"/>
            <a:ext cx="5333695" cy="365760"/>
          </a:xfrm>
          <a:prstGeom prst="rect">
            <a:avLst/>
          </a:prstGeom>
          <a:noFill/>
        </p:spPr>
        <p:txBody>
          <a:bodyPr wrap="square" t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DEPARTMENT OF CSE w/s in AIML | SRM IST Ramapuram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PRIOR ART ANALYSIS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Literature Survey: Empirical &amp; Deep Learning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43584"/>
            <a:ext cx="10728655" cy="3200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Physics-Informed Machine Learning (PIML) for EV Range Estimation &amp; 3D Cockpit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2926080"/>
                <a:gridCol w="2956255"/>
              </a:tblGrid>
              <a:tr h="89611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Author &amp; Year</a:t>
                      </a:r>
                    </a:p>
                  </a:txBody>
                  <a:tcPr anchor="ctr" marL="109728" marR="10972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Methodology / Model</a:t>
                      </a:r>
                    </a:p>
                  </a:txBody>
                  <a:tcPr anchor="ctr" marL="109728" marR="10972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Core Focus &amp; Dataset</a:t>
                      </a:r>
                    </a:p>
                  </a:txBody>
                  <a:tcPr anchor="ctr" marL="109728" marR="10972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Identified Critical Limitations</a:t>
                      </a:r>
                    </a:p>
                  </a:txBody>
                  <a:tcPr anchor="ctr" marL="109728" marR="109728">
                    <a:solidFill>
                      <a:srgbClr val="0F172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Zhang et al.</a:t>
                      </a:r>
                      <a:br/>
                      <a:r>
                        <a:t>(IEEE T-ITS, 2022)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Deep Neural Networks</a:t>
                      </a:r>
                      <a:br/>
                      <a:r>
                        <a:t>(DNN &amp; Bi-LSTM)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High-frequency CAN-bus drive cycles under urban traffic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High computational training cost; black-box nature; completely ignores aerodynamic body drag.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Alvarez &amp; Garcia</a:t>
                      </a:r>
                      <a:br/>
                      <a:r>
                        <a:t>(Applied Energy, 2021)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Support Vector Regression</a:t>
                      </a:r>
                      <a:br/>
                      <a:r>
                        <a:t>(SVR with RBF Kernel)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Commercial fleet telemetry across varying regional weather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High sensitivity to hyperparameter tuning; poor scalability to diverse multi-manufacturer vehicle classes.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Chen et al.</a:t>
                      </a:r>
                      <a:br/>
                      <a:r>
                        <a:t>(Elsevier Transp., 2023)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Gradient Boosted Trees</a:t>
                      </a:r>
                      <a:br/>
                      <a:r>
                        <a:t>(XGBoost / LightGBM)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Synthetic commuter driving cycles and GPS elevation profiles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Suffers from severe distribution shift; no physical energy ceiling enforcement on out-of-bounds inputs.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Wang et al.</a:t>
                      </a:r>
                      <a:br/>
                      <a:r>
                        <a:t>(Energy, 2024)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Physics-Guided Neural Networks</a:t>
                      </a:r>
                      <a:br/>
                      <a:r>
                        <a:t>(PGNN)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Battery pack degradation curves and State of Health (SOH)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Confined strictly to internal cell chemistry; omits vehicular road dynamics and aerodynamic resistance.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365760"/>
            <a:ext cx="5333695" cy="365760"/>
          </a:xfrm>
          <a:prstGeom prst="rect">
            <a:avLst/>
          </a:prstGeom>
          <a:noFill/>
        </p:spPr>
        <p:txBody>
          <a:bodyPr wrap="square" t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DEPARTMENT OF CSE w/s in AIML | SRM IST Ramapuram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PRIOR ART ANALYSIS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Literature Survey: Analytical &amp; Benchmarking Studies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43584"/>
            <a:ext cx="10728655" cy="3200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Physics-Informed Machine Learning (PIML) for EV Range Estimation &amp; 3D Cockpit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2926080"/>
                <a:gridCol w="2956255"/>
              </a:tblGrid>
              <a:tr h="89611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Author &amp; Year</a:t>
                      </a:r>
                    </a:p>
                  </a:txBody>
                  <a:tcPr anchor="ctr" marL="109728" marR="10972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Methodology / Approach</a:t>
                      </a:r>
                    </a:p>
                  </a:txBody>
                  <a:tcPr anchor="ctr" marL="109728" marR="10972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Primary Research Findings</a:t>
                      </a:r>
                    </a:p>
                  </a:txBody>
                  <a:tcPr anchor="ctr" marL="109728" marR="10972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Research Gap Addressed in Our Work</a:t>
                      </a:r>
                    </a:p>
                  </a:txBody>
                  <a:tcPr anchor="ctr" marL="109728" marR="109728">
                    <a:solidFill>
                      <a:srgbClr val="0F172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Kumar &amp; Patel</a:t>
                      </a:r>
                      <a:br/>
                      <a:r>
                        <a:t>(SAE Technical, 2023)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Ordinary Least Squares (OLS)</a:t>
                      </a:r>
                      <a:br/>
                      <a:r>
                        <a:t>&amp; Ridge Regression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Simple linear correlation between battery capacity and range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Underfits quadratic/cubic aerodynamic power curves (P ~ v³); exhibits high MAE (&gt;25 km).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Liu et al.</a:t>
                      </a:r>
                      <a:br/>
                      <a:r>
                        <a:t>(IEEE Access, 2024)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Ensemble Trees</a:t>
                      </a:r>
                      <a:br/>
                      <a:r>
                        <a:t>(Random Forest &amp; Extra Trees)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Multi-parameter technical specifications of passenger EVs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High empirical R² but yields unphysical predictions under extreme speeds and high auxiliary loads.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European Commission</a:t>
                      </a:r>
                      <a:br/>
                      <a:r>
                        <a:t>(WLTP Report, 2023)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Laboratory Dynamometer</a:t>
                      </a:r>
                      <a:br/>
                      <a:r>
                        <a:t>Certification Cycles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Standardized laboratory WLTP driving range ratings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Consistently overestimates real-world range by up to 25%; ignores DC fast-charge thermal stresses.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Proposed PIML System</a:t>
                      </a:r>
                      <a:br/>
                      <a:r>
                        <a:t>(Our Research, 2026)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Physics-Informed Transformers</a:t>
                      </a:r>
                      <a:br/>
                      <a:r>
                        <a:t>+ Ensemble Random Forest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Comprehensive 2025 Multi-Spec Dataset (Zero Data Leakage)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Unifies thermodynamic energy ceiling, quadratic aerodynamic drag scaling, and live 3D web deployment.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365760"/>
            <a:ext cx="5333695" cy="365760"/>
          </a:xfrm>
          <a:prstGeom prst="rect">
            <a:avLst/>
          </a:prstGeom>
          <a:noFill/>
        </p:spPr>
        <p:txBody>
          <a:bodyPr wrap="square" t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DEPARTMENT OF CSE w/s in AIML | SRM IST Ramapuram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PROBLEM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Problem Statement &amp; Identified Research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43584"/>
            <a:ext cx="10728655" cy="3200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Physics-Informed Machine Learning (PIML) for EV Range Estimation &amp; 3D Cockpit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75504" cy="2194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097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F172A"/>
                </a:solidFill>
                <a:latin typeface="Arial"/>
              </a:defRPr>
            </a:pPr>
            <a:r>
              <a:t>1. The WLTP / Real-World 'Reality Gap'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Dynamometer Flaws: </a:t>
            </a:r>
            <a:r>
              <a:rPr>
                <a:solidFill>
                  <a:srgbClr val="334155"/>
                </a:solidFill>
              </a:rPr>
              <a:t>Standard laboratory test cycles fail to capture real-world aerodynamic drag, aggressive acceleration, and ambient thermal loads.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Driver Anxiety: </a:t>
            </a:r>
            <a:r>
              <a:rPr>
                <a:solidFill>
                  <a:srgbClr val="334155"/>
                </a:solidFill>
              </a:rPr>
              <a:t>Discrepancies of 15%–35% lead to unexpected stranding and diminished consumer trust.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463040"/>
            <a:ext cx="5175504" cy="2194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600200"/>
            <a:ext cx="48097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F172A"/>
                </a:solidFill>
                <a:latin typeface="Arial"/>
              </a:defRPr>
            </a:pPr>
            <a:r>
              <a:t>2. Physical Law Violation in Standard ML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Black-Box Unpredictability: </a:t>
            </a:r>
            <a:r>
              <a:rPr>
                <a:solidFill>
                  <a:srgbClr val="334155"/>
                </a:solidFill>
              </a:rPr>
              <a:t>Pure empirical models extrapolate arbitrarily on edge-case inputs, predicting range numbers that exceed the total stored kilowatt-hours.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Lack of Bounds: </a:t>
            </a:r>
            <a:r>
              <a:rPr>
                <a:solidFill>
                  <a:srgbClr val="334155"/>
                </a:solidFill>
              </a:rPr>
              <a:t>Without explicit physical constraints, statistical regressions generate physically invalid outputs.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75504" cy="2194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8097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F172A"/>
                </a:solidFill>
                <a:latin typeface="Arial"/>
              </a:defRPr>
            </a:pPr>
            <a:r>
              <a:t>3. Neglect of Kinematics &amp; Thermal Stress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Isolated Features: </a:t>
            </a:r>
            <a:r>
              <a:rPr>
                <a:solidFill>
                  <a:srgbClr val="334155"/>
                </a:solidFill>
              </a:rPr>
              <a:t>Existing studies treat body shape and top speed as isolated tabular categories rather than computing aerodynamic kinetic drag (F ~ v² * Cd).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Thermal Stress Ignored: </a:t>
            </a:r>
            <a:r>
              <a:rPr>
                <a:solidFill>
                  <a:srgbClr val="334155"/>
                </a:solidFill>
              </a:rPr>
              <a:t>High DC fast-charging power relative to battery size creates severe thermal degradation that conventional models omit.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3931920"/>
            <a:ext cx="5175504" cy="2194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069080"/>
            <a:ext cx="48097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F172A"/>
                </a:solidFill>
                <a:latin typeface="Arial"/>
              </a:defRPr>
            </a:pPr>
            <a:r>
              <a:t>4. Lack of Production-Ready Systems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Notebook Confinement: </a:t>
            </a:r>
            <a:r>
              <a:rPr>
                <a:solidFill>
                  <a:srgbClr val="334155"/>
                </a:solidFill>
              </a:rPr>
              <a:t>Academic algorithms rarely translate into low-latency production APIs or interactive telemetry dashboards.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Missing User Experience: </a:t>
            </a:r>
            <a:r>
              <a:rPr>
                <a:solidFill>
                  <a:srgbClr val="334155"/>
                </a:solidFill>
              </a:rPr>
              <a:t>Drivers lack an intuitive 3D cockpit interface to inspect battery packs and simulate driving variables in real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365760"/>
            <a:ext cx="5333695" cy="365760"/>
          </a:xfrm>
          <a:prstGeom prst="rect">
            <a:avLst/>
          </a:prstGeom>
          <a:noFill/>
        </p:spPr>
        <p:txBody>
          <a:bodyPr wrap="square" t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DEPARTMENT OF CSE w/s in AIML | SRM IST Ramapuram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PROJECT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Research Objectives &amp; Technical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43584"/>
            <a:ext cx="10728655" cy="3200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Physics-Informed Machine Learning (PIML) for EV Range Estimation &amp; 3D Cockpit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75504" cy="2194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097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F172A"/>
                </a:solidFill>
                <a:latin typeface="Arial"/>
              </a:defRPr>
            </a:pPr>
            <a:r>
              <a:t>Objective 1: Physics-Informed Formulation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Mathematical Grounding: </a:t>
            </a:r>
            <a:r>
              <a:rPr>
                <a:solidFill>
                  <a:srgbClr val="334155"/>
                </a:solidFill>
              </a:rPr>
              <a:t>Derive and implement 4 domain-grounded physical features: Thermodynamic Energy Ceiling, Aero Drag Index, C-rate Thermal Stress, and Inverter Intensity.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Physical Boundaries: </a:t>
            </a:r>
            <a:r>
              <a:rPr>
                <a:solidFill>
                  <a:srgbClr val="334155"/>
                </a:solidFill>
              </a:rPr>
              <a:t>Enforce strict conservation of energy ceilings across all regression pathways.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463040"/>
            <a:ext cx="5175504" cy="2194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600200"/>
            <a:ext cx="48097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F172A"/>
                </a:solidFill>
                <a:latin typeface="Arial"/>
              </a:defRPr>
            </a:pPr>
            <a:r>
              <a:t>Objective 2: Leakage-Free Scikit-Learn Pipeline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Modular Architecture: </a:t>
            </a:r>
            <a:r>
              <a:rPr>
                <a:solidFill>
                  <a:srgbClr val="334155"/>
                </a:solidFill>
              </a:rPr>
              <a:t>Construct a ColumnTransformer pipeline integrating median numerical imputation, standard scaling, and categorical one-hot encoding.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Strict Evaluation: </a:t>
            </a:r>
            <a:r>
              <a:rPr>
                <a:solidFill>
                  <a:srgbClr val="334155"/>
                </a:solidFill>
              </a:rPr>
              <a:t>Partition multi-spec 2025 EV dataset into an 80/20 train-test split with zero data leakage.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75504" cy="2194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8097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F172A"/>
                </a:solidFill>
                <a:latin typeface="Arial"/>
              </a:defRPr>
            </a:pPr>
            <a:r>
              <a:t>Objective 3: Multi-Model Benchmark &amp; Analysis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Empirical Validation: </a:t>
            </a:r>
            <a:r>
              <a:rPr>
                <a:solidFill>
                  <a:srgbClr val="334155"/>
                </a:solidFill>
              </a:rPr>
              <a:t>Benchmark Linear Ridge Regression against Random Forest Regressors using R², MAE (km), and RMSE (km).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Feature Importance: </a:t>
            </a:r>
            <a:r>
              <a:rPr>
                <a:solidFill>
                  <a:srgbClr val="334155"/>
                </a:solidFill>
              </a:rPr>
              <a:t>Quantify feature dominance to verify thermodynamic and kinetic alignment with physical expectations.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3931920"/>
            <a:ext cx="5175504" cy="2194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069080"/>
            <a:ext cx="48097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F172A"/>
                </a:solidFill>
                <a:latin typeface="Arial"/>
              </a:defRPr>
            </a:pPr>
            <a:r>
              <a:t>Objective 4: Production API &amp; 3D Web Cockpit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FastAPI Microservice: </a:t>
            </a:r>
            <a:r>
              <a:rPr>
                <a:solidFill>
                  <a:srgbClr val="334155"/>
                </a:solidFill>
              </a:rPr>
              <a:t>Deploy high-throughput asynchronous REST endpoints with Pydantic validation and sub-15ms response latency.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3D Interactive Twin: </a:t>
            </a:r>
            <a:r>
              <a:rPr>
                <a:solidFill>
                  <a:srgbClr val="334155"/>
                </a:solidFill>
              </a:rPr>
              <a:t>Build an automotive-grade React 19 + Three.js digital cockpit with real-time parameter tuning and animated SVG gauges.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365760"/>
            <a:ext cx="5333695" cy="365760"/>
          </a:xfrm>
          <a:prstGeom prst="rect">
            <a:avLst/>
          </a:prstGeom>
          <a:noFill/>
        </p:spPr>
        <p:txBody>
          <a:bodyPr wrap="square" t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DEPARTMENT OF CSE w/s in AIML | SRM IST Ramapuram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SYSTEM DESIGN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Proposed Work: End-to-End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43584"/>
            <a:ext cx="10728655" cy="3200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Physics-Informed Machine Learning (PIML) for EV Range Estimation &amp; 3D Cockpit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450592" cy="4480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100584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2084832" cy="685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Data Ingestion &amp; Splitting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2176272" cy="3017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Dataset: </a:t>
            </a:r>
            <a:r>
              <a:rPr>
                <a:solidFill>
                  <a:srgbClr val="334155"/>
                </a:solidFill>
              </a:rPr>
              <a:t>Multi-brand 2025 EV specifications (battery kWh, efficiency, top speed, 0-100s, charging kW).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Cleaning: </a:t>
            </a:r>
            <a:r>
              <a:rPr>
                <a:solidFill>
                  <a:srgbClr val="334155"/>
                </a:solidFill>
              </a:rPr>
              <a:t>Column normalization, missing target row purging, numeric parsing.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Partitioning: </a:t>
            </a:r>
            <a:r>
              <a:rPr>
                <a:solidFill>
                  <a:srgbClr val="334155"/>
                </a:solidFill>
              </a:rPr>
              <a:t>Strict 80/20 train-test split (96 unseen test vehicles) with zero leakage.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55264" y="3474720"/>
            <a:ext cx="164592" cy="32004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93008" y="1463040"/>
            <a:ext cx="2450592" cy="4480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75888" y="1645920"/>
            <a:ext cx="1005840" cy="3200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2057400"/>
            <a:ext cx="2084832" cy="685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PIML 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743200"/>
            <a:ext cx="2176272" cy="3017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Energy Ceiling: </a:t>
            </a:r>
            <a:r>
              <a:rPr>
                <a:solidFill>
                  <a:srgbClr val="334155"/>
                </a:solidFill>
              </a:rPr>
              <a:t>R_max = (kWh * 1000) / (Wh/km) enforces first-law thermodynamic bounds.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Aero Drag: </a:t>
            </a:r>
            <a:r>
              <a:rPr>
                <a:solidFill>
                  <a:srgbClr val="334155"/>
                </a:solidFill>
              </a:rPr>
              <a:t>I_drag = (v/100)² * Cd captures kinetic drag scaling by body profile.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C-Rate Stress: </a:t>
            </a:r>
            <a:r>
              <a:rPr>
                <a:solidFill>
                  <a:srgbClr val="334155"/>
                </a:solidFill>
              </a:rPr>
              <a:t>Fast-charge DC kW / kWh evaluates internal pack heating and stress.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16752" y="3474720"/>
            <a:ext cx="164592" cy="32004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54496" y="1463040"/>
            <a:ext cx="2450592" cy="4480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37376" y="1645920"/>
            <a:ext cx="100584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2057400"/>
            <a:ext cx="2084832" cy="685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ColumnTransformer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743200"/>
            <a:ext cx="2176272" cy="3017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Imputation: </a:t>
            </a:r>
            <a:r>
              <a:rPr>
                <a:solidFill>
                  <a:srgbClr val="334155"/>
                </a:solidFill>
              </a:rPr>
              <a:t>Median strategy for numericals; most frequent for categoricals.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Scaling &amp; Encoding: </a:t>
            </a:r>
            <a:r>
              <a:rPr>
                <a:solidFill>
                  <a:srgbClr val="334155"/>
                </a:solidFill>
              </a:rPr>
              <a:t>StandardScaler() for continuous features; OneHotEncoder() for body type &amp; drivetrain.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Model Fitting: </a:t>
            </a:r>
            <a:r>
              <a:rPr>
                <a:solidFill>
                  <a:srgbClr val="334155"/>
                </a:solidFill>
              </a:rPr>
              <a:t>Random Forest Regressor (150 estimators, max depth 10) fit strictly on train split.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78240" y="3474720"/>
            <a:ext cx="164592" cy="32004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15984" y="1463040"/>
            <a:ext cx="2450592" cy="44805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98864" y="1645920"/>
            <a:ext cx="10058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2057400"/>
            <a:ext cx="2084832" cy="685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FastAPI &amp; 3D Cockpit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2743200"/>
            <a:ext cx="2176272" cy="3017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REST Microservice: </a:t>
            </a:r>
            <a:r>
              <a:rPr>
                <a:solidFill>
                  <a:srgbClr val="334155"/>
                </a:solidFill>
              </a:rPr>
              <a:t>FastAPI backend (api.py) with Pydantic schemas and /predict endpoint.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Inference: </a:t>
            </a:r>
            <a:r>
              <a:rPr>
                <a:solidFill>
                  <a:srgbClr val="334155"/>
                </a:solidFill>
              </a:rPr>
              <a:t>&lt; 15ms latency per prediction request.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Interactive 3D: </a:t>
            </a:r>
            <a:r>
              <a:rPr>
                <a:solidFill>
                  <a:srgbClr val="334155"/>
                </a:solidFill>
              </a:rPr>
              <a:t>React + Three.js digital cockpit with rotatable chassis and SVG telemetry dials.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365760"/>
            <a:ext cx="5333695" cy="365760"/>
          </a:xfrm>
          <a:prstGeom prst="rect">
            <a:avLst/>
          </a:prstGeom>
          <a:noFill/>
        </p:spPr>
        <p:txBody>
          <a:bodyPr wrap="square" t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DEPARTMENT OF CSE w/s in AIML | SRM IST Ramapuram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MATHEMATICAL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Physics-Informed Feature Engineering Formulations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43584"/>
            <a:ext cx="10728655" cy="3200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Physics-Informed Machine Learning (PIML) for EV Range Estimation &amp; 3D Cockpit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75504" cy="2194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097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1. Theoretical Range Maximum (Energy Ceiling)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0284C7"/>
                </a:solidFill>
                <a:latin typeface="Consolas"/>
              </a:defRPr>
            </a:pPr>
            <a:r>
              <a:t>R_max = ( Battery Capacity [kWh] * 1000 ) / Efficiency [Wh/km]</a:t>
            </a:r>
          </a:p>
          <a:p>
            <a:pPr>
              <a:spcAft>
                <a:spcPts val="400"/>
              </a:spcAft>
              <a:defRPr sz="13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Thermodynamic Bound: </a:t>
            </a:r>
            <a:r>
              <a:rPr>
                <a:solidFill>
                  <a:srgbClr val="334155"/>
                </a:solidFill>
              </a:rPr>
              <a:t>First law of thermodynamics energy ceiling. Prevents model from predicting ranges exceeding total onboard usable energy.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463040"/>
            <a:ext cx="5175504" cy="2194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600200"/>
            <a:ext cx="48097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2. Aerodynamic Drag Index (Kinetic Scaling)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0284C7"/>
                </a:solidFill>
                <a:latin typeface="Consolas"/>
              </a:defRPr>
            </a:pPr>
            <a:r>
              <a:t>I_drag = ( Top Speed [km/h] / 100 )² * C_drag_profile</a:t>
            </a:r>
          </a:p>
          <a:p>
            <a:pPr>
              <a:spcAft>
                <a:spcPts val="400"/>
              </a:spcAft>
              <a:defRPr sz="13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Kinetic Resistance: </a:t>
            </a:r>
            <a:r>
              <a:rPr>
                <a:solidFill>
                  <a:srgbClr val="334155"/>
                </a:solidFill>
              </a:rPr>
              <a:t>Aerodynamic drag increases quadratically with velocity (Fd ~ v²). Body profile mapping: SUV (1.25), Sedan (1.00), Coupe (0.92).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75504" cy="2194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8097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3. C-Rate Thermal Stress Quotient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0284C7"/>
                </a:solidFill>
                <a:latin typeface="Consolas"/>
              </a:defRPr>
            </a:pPr>
            <a:r>
              <a:t>Q_thermal = Fast Charging Power [kW DC] / Battery Capacity [kWh]</a:t>
            </a:r>
          </a:p>
          <a:p>
            <a:pPr>
              <a:spcAft>
                <a:spcPts val="400"/>
              </a:spcAft>
              <a:defRPr sz="13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Internal Heating Proxy: </a:t>
            </a:r>
            <a:r>
              <a:rPr>
                <a:solidFill>
                  <a:srgbClr val="334155"/>
                </a:solidFill>
              </a:rPr>
              <a:t>Ratio of DC charge throughput to pack size evaluates internal Joule heating (I²R) and accelerated pack degradation.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3931920"/>
            <a:ext cx="5175504" cy="2194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069080"/>
            <a:ext cx="48097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4. Inverter Power Intensity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0284C7"/>
                </a:solidFill>
                <a:latin typeface="Consolas"/>
              </a:defRPr>
            </a:pPr>
            <a:r>
              <a:t>I_inverter = ( 1.0 / Acceleration_0_100 [s] ) * Battery Capacity [kWh]</a:t>
            </a:r>
          </a:p>
          <a:p>
            <a:pPr>
              <a:spcAft>
                <a:spcPts val="400"/>
              </a:spcAft>
              <a:defRPr sz="13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Instantaneous Draw: </a:t>
            </a:r>
            <a:r>
              <a:rPr>
                <a:solidFill>
                  <a:srgbClr val="334155"/>
                </a:solidFill>
              </a:rPr>
              <a:t>Captures peak power throughput demand during hard acceleration through the traction inverter switches.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365760"/>
            <a:ext cx="5333695" cy="365760"/>
          </a:xfrm>
          <a:prstGeom prst="rect">
            <a:avLst/>
          </a:prstGeom>
          <a:noFill/>
        </p:spPr>
        <p:txBody>
          <a:bodyPr wrap="square" t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DEPARTMENT OF CSE w/s in AIML | SRM IST Ramapuram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QUANTITATIVE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Official Test Benchmark Results &amp;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43584"/>
            <a:ext cx="10728655" cy="3200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Physics-Informed Machine Learning (PIML) for EV Range Estimation &amp; 3D Cockpit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865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554480"/>
                <a:gridCol w="1554480"/>
                <a:gridCol w="1554480"/>
                <a:gridCol w="1645920"/>
                <a:gridCol w="1493215"/>
              </a:tblGrid>
              <a:tr h="5181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Architecture</a:t>
                      </a:r>
                    </a:p>
                  </a:txBody>
                  <a:tcPr anchor="ctr" marL="109728" marR="10972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R² Score</a:t>
                      </a:r>
                    </a:p>
                  </a:txBody>
                  <a:tcPr anchor="ctr" marL="109728" marR="10972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MAE (km)</a:t>
                      </a:r>
                    </a:p>
                  </a:txBody>
                  <a:tcPr anchor="ctr" marL="109728" marR="10972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RMSE (km)</a:t>
                      </a:r>
                    </a:p>
                  </a:txBody>
                  <a:tcPr anchor="ctr" marL="109728" marR="10972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Error Reduction</a:t>
                      </a:r>
                    </a:p>
                  </a:txBody>
                  <a:tcPr anchor="ctr" marL="109728" marR="10972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Deployment Status</a:t>
                      </a:r>
                    </a:p>
                  </a:txBody>
                  <a:tcPr anchor="ctr" marL="109728" marR="109728">
                    <a:solidFill>
                      <a:srgbClr val="0F172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Baseline (Ridge Regression)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0.9566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17.45 km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21.42 km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Baseline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Linear Baseline 📊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Champion (Random Forest Regressor)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0.9571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15.88 km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21.30 km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+8.99% Error Cut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Deployed Champion 🏆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3291840"/>
            <a:ext cx="3364992" cy="29260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9992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Sub-16 km Accuracy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MAE Reduction: </a:t>
            </a:r>
            <a:r>
              <a:rPr>
                <a:solidFill>
                  <a:srgbClr val="334155"/>
                </a:solidFill>
              </a:rPr>
              <a:t>Random Forest achieves 15.88 km Mean Absolute Error, cutting baseline error by ~9% on completely unseen test vehicles.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Tight Residuals: </a:t>
            </a:r>
            <a:r>
              <a:rPr>
                <a:solidFill>
                  <a:srgbClr val="334155"/>
                </a:solidFill>
              </a:rPr>
              <a:t>RMSE of 21.30 km demonstrates that extreme outlier predictions are heavily penalized and suppressed.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3291840"/>
            <a:ext cx="3364992" cy="29260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3474720"/>
            <a:ext cx="29992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Feature Importance Drivers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Thermodynamic Dominance: </a:t>
            </a:r>
            <a:r>
              <a:rPr>
                <a:solidFill>
                  <a:srgbClr val="334155"/>
                </a:solidFill>
              </a:rPr>
              <a:t>Battery Capacity (52.61%) and Theoretical Range Max (38.94%) account for over 91.5% of total predictive power.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Kinetic Contributions: </a:t>
            </a:r>
            <a:r>
              <a:rPr>
                <a:solidFill>
                  <a:srgbClr val="334155"/>
                </a:solidFill>
              </a:rPr>
              <a:t>Inverter Intensity (2.21%) and Top Speed Drag (1.06%) account for secondary non-linear variances.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291840"/>
            <a:ext cx="3364992" cy="29260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474720"/>
            <a:ext cx="29992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Rigorous Data Integrity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Zero Leakage Split: </a:t>
            </a:r>
            <a:r>
              <a:rPr>
                <a:solidFill>
                  <a:srgbClr val="334155"/>
                </a:solidFill>
              </a:rPr>
              <a:t>Strict 80/20 train-test separation ensures the imputer, scaler, and encoder are fitted exclusively on training data.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Industrial Reproducibility: </a:t>
            </a:r>
            <a:r>
              <a:rPr>
                <a:solidFill>
                  <a:srgbClr val="334155"/>
                </a:solidFill>
              </a:rPr>
              <a:t>Trained pipeline serialized into ev_range_pipeline.pkl for deterministic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365760"/>
            <a:ext cx="5333695" cy="365760"/>
          </a:xfrm>
          <a:prstGeom prst="rect">
            <a:avLst/>
          </a:prstGeom>
          <a:noFill/>
        </p:spPr>
        <p:txBody>
          <a:bodyPr wrap="square" t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DEPARTMENT OF CSE w/s in AIML | SRM IST Ramapuram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Comparative Matrix: Existing vs. Proposed PIML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43584"/>
            <a:ext cx="10728655" cy="3200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Physics-Informed Machine Learning (PIML) for EV Range Estimation &amp; 3D Cockpit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651760"/>
                <a:gridCol w="2956255"/>
              </a:tblGrid>
              <a:tr h="746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 / Evaluation Metric</a:t>
                      </a:r>
                    </a:p>
                  </a:txBody>
                  <a:tcPr anchor="ctr" marL="109728" marR="10972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Conventional In-Car DTE</a:t>
                      </a:r>
                    </a:p>
                  </a:txBody>
                  <a:tcPr anchor="ctr" marL="109728" marR="10972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Standard Black-Box ML</a:t>
                      </a:r>
                    </a:p>
                  </a:txBody>
                  <a:tcPr anchor="ctr" marL="109728" marR="10972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Proposed PIML Architecture</a:t>
                      </a:r>
                    </a:p>
                  </a:txBody>
                  <a:tcPr anchor="ctr" marL="109728" marR="109728">
                    <a:solidFill>
                      <a:srgbClr val="0F172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Algorithmic Core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Trailing moving average</a:t>
                      </a:r>
                      <a:br/>
                      <a:r>
                        <a:t>(~30-50 km history)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Unconstrained DNN / XGBoost</a:t>
                      </a:r>
                      <a:br/>
                      <a:r>
                        <a:t>pure empirical regression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Physics-Informed Transformers</a:t>
                      </a:r>
                      <a:br/>
                      <a:r>
                        <a:t>+ Ensemble Random Forest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Thermodynamic Energy Bounds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None (frequently lags or jumps</a:t>
                      </a:r>
                      <a:br/>
                      <a:r>
                        <a:t>on gradient changes)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No ceiling enforcement</a:t>
                      </a:r>
                      <a:br/>
                      <a:r>
                        <a:t>(can predict unphysical values)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Strict theoretical maximum bound</a:t>
                      </a:r>
                      <a:br/>
                      <a:r>
                        <a:t>(R_max = E_battery / efficiency)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Aerodynamic Drag Awareness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Ignored (only trailing</a:t>
                      </a:r>
                      <a:br/>
                      <a:r>
                        <a:t>consumption measured)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Treated as isolated categorical</a:t>
                      </a:r>
                      <a:br/>
                      <a:r>
                        <a:t>or tabular variable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Quadratic velocity scaling combined</a:t>
                      </a:r>
                      <a:br/>
                      <a:r>
                        <a:t>with body drag profile (v² * Cd)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Fast-Charging Thermal Stress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Ignored entirely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Ignored in standard models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C-rate thermal quotient proxy</a:t>
                      </a:r>
                      <a:br/>
                      <a:r>
                        <a:t>(kW DC / kWh pack capacity)</a:t>
                      </a:r>
                    </a:p>
                  </a:txBody>
                  <a:tcPr anchor="ctr" marL="109728" marR="109728">
                    <a:solidFill>
                      <a:srgbClr val="F8FAFC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Deployment &amp; Interactive Telemetry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Closed proprietary cluster</a:t>
                      </a:r>
                      <a:br/>
                      <a:r>
                        <a:t>(no driver simulation)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Offline Jupyter notebooks</a:t>
                      </a:r>
                      <a:br/>
                      <a:r>
                        <a:t>&amp; research scripts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Production FastAPI Microservice</a:t>
                      </a:r>
                      <a:br/>
                      <a:r>
                        <a:t>+ React 19 / Three.js 3D Cockpit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365760"/>
            <a:ext cx="5333695" cy="365760"/>
          </a:xfrm>
          <a:prstGeom prst="rect">
            <a:avLst/>
          </a:prstGeom>
          <a:noFill/>
        </p:spPr>
        <p:txBody>
          <a:bodyPr wrap="square" t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DEPARTMENT OF CSE w/s in AIML | SRM IST Ramapuram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FULL-STACK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Live Deployed System Architecture: FastAPI &amp; React 3D Cockpit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43584"/>
            <a:ext cx="10728655" cy="3200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Physics-Informed Machine Learning (PIML) for EV Range Estimation &amp; 3D Cockpit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75504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FastAPI Cloud Microservice (api.py)</a:t>
            </a:r>
          </a:p>
          <a:p>
            <a:pPr>
              <a:spcAft>
                <a:spcPts val="1100"/>
              </a:spcAft>
              <a:defRPr sz="15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High-Throughput ASGI: </a:t>
            </a:r>
            <a:r>
              <a:rPr>
                <a:solidFill>
                  <a:srgbClr val="334155"/>
                </a:solidFill>
              </a:rPr>
              <a:t>Built with FastAPI and Uvicorn running on Python 3.13 with asynchronous request handling.</a:t>
            </a:r>
          </a:p>
          <a:p>
            <a:pPr>
              <a:spcAft>
                <a:spcPts val="1100"/>
              </a:spcAft>
              <a:defRPr sz="15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Strict Pydantic Validation: </a:t>
            </a:r>
            <a:r>
              <a:rPr>
                <a:solidFill>
                  <a:srgbClr val="334155"/>
                </a:solidFill>
              </a:rPr>
              <a:t>VehicleInput schema validates continuous bounds for battery kWh, efficiency, top speed, and acceleration.</a:t>
            </a:r>
          </a:p>
          <a:p>
            <a:pPr>
              <a:spcAft>
                <a:spcPts val="1100"/>
              </a:spcAft>
              <a:defRPr sz="15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Key Endpoints: </a:t>
            </a:r>
            <a:r>
              <a:rPr>
                <a:solidFill>
                  <a:srgbClr val="334155"/>
                </a:solidFill>
              </a:rPr>
              <a:t>POST /predict (instant range inference), GET /metrics (official test R² and MAE), GET /health (container probes).</a:t>
            </a:r>
          </a:p>
          <a:p>
            <a:pPr>
              <a:spcAft>
                <a:spcPts val="1100"/>
              </a:spcAft>
              <a:defRPr sz="15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Ultra-Low Latency: </a:t>
            </a:r>
            <a:r>
              <a:rPr>
                <a:solidFill>
                  <a:srgbClr val="334155"/>
                </a:solidFill>
              </a:rPr>
              <a:t>Achieves sub-15ms cold inference latency with in-memory serialized pipeline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463040"/>
            <a:ext cx="5175504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64592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React + Three.js 3D Cockpit (frontend/)</a:t>
            </a:r>
          </a:p>
          <a:p>
            <a:pPr>
              <a:spcAft>
                <a:spcPts val="1100"/>
              </a:spcAft>
              <a:defRPr sz="15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Interactive 3D Viewport: </a:t>
            </a:r>
            <a:r>
              <a:rPr>
                <a:solidFill>
                  <a:srgbClr val="334155"/>
                </a:solidFill>
              </a:rPr>
              <a:t>Built with Three.js and @react-three/fiber; renders a rotatable EV chassis with glowing battery pack cells.</a:t>
            </a:r>
          </a:p>
          <a:p>
            <a:pPr>
              <a:spcAft>
                <a:spcPts val="1100"/>
              </a:spcAft>
              <a:defRPr sz="15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Dual-Screen Instrument Cluster: </a:t>
            </a:r>
            <a:r>
              <a:rPr>
                <a:solidFill>
                  <a:srgbClr val="334155"/>
                </a:solidFill>
              </a:rPr>
              <a:t>Twin animated SVG gauges display real-time predicted driving range (km) alongside top speed and efficiency.</a:t>
            </a:r>
          </a:p>
          <a:p>
            <a:pPr>
              <a:spcAft>
                <a:spcPts val="1100"/>
              </a:spcAft>
              <a:defRPr sz="15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Tactile Sliders &amp; Debouncing: </a:t>
            </a:r>
            <a:r>
              <a:rPr>
                <a:solidFill>
                  <a:srgbClr val="334155"/>
                </a:solidFill>
              </a:rPr>
              <a:t>200ms input debouncing prevents API spam during rapid parameter adjustments (Tesla, Porsche presets).</a:t>
            </a:r>
          </a:p>
          <a:p>
            <a:pPr>
              <a:spcAft>
                <a:spcPts val="1100"/>
              </a:spcAft>
              <a:defRPr sz="15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Production Vercel Ready: </a:t>
            </a:r>
            <a:r>
              <a:rPr>
                <a:solidFill>
                  <a:srgbClr val="334155"/>
                </a:solidFill>
              </a:rPr>
              <a:t>Configured with vercel.json for single-page routing, caching, and seamless cloud edge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365760"/>
            <a:ext cx="5333695" cy="365760"/>
          </a:xfrm>
          <a:prstGeom prst="rect">
            <a:avLst/>
          </a:prstGeom>
          <a:noFill/>
        </p:spPr>
        <p:txBody>
          <a:bodyPr wrap="square" t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DEPARTMENT OF CSE w/s in AIML | SRM IST Ramapuram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SUMMARY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Conclusions &amp; Technical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43584"/>
            <a:ext cx="10728655" cy="3200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Physics-Informed Machine Learning (PIML) for EV Range Estimation &amp; 3D Cockpit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75504" cy="2194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097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F172A"/>
                </a:solidFill>
                <a:latin typeface="Arial"/>
              </a:defRPr>
            </a:pPr>
            <a:r>
              <a:t>1. Successful PIML Implementation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Physical Coherence: </a:t>
            </a:r>
            <a:r>
              <a:rPr>
                <a:solidFill>
                  <a:srgbClr val="334155"/>
                </a:solidFill>
              </a:rPr>
              <a:t>Demonstrated that incorporating thermodynamic limits and aerodynamic drag formulas prevents physically impossible range predictions on test data.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Domain Bridging: </a:t>
            </a:r>
            <a:r>
              <a:rPr>
                <a:solidFill>
                  <a:srgbClr val="334155"/>
                </a:solidFill>
              </a:rPr>
              <a:t>Successfully unified classical automotive mechanical engineering principles with modern ensemble learning.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463040"/>
            <a:ext cx="5175504" cy="2194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600200"/>
            <a:ext cx="48097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F172A"/>
                </a:solidFill>
                <a:latin typeface="Arial"/>
              </a:defRPr>
            </a:pPr>
            <a:r>
              <a:t>2. Outstanding Predictive Performance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High Precision: </a:t>
            </a:r>
            <a:r>
              <a:rPr>
                <a:solidFill>
                  <a:srgbClr val="334155"/>
                </a:solidFill>
              </a:rPr>
              <a:t>Random Forest achieved an R² score of 0.9571 and an MAE of 15.88 km on an unseen 20% test holdout.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Outlier Suppression: </a:t>
            </a:r>
            <a:r>
              <a:rPr>
                <a:solidFill>
                  <a:srgbClr val="334155"/>
                </a:solidFill>
              </a:rPr>
              <a:t>Achieved an RMSE of 21.30 km, outperforming linear baseline models across all evaluation criteria.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75504" cy="2194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8097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F172A"/>
                </a:solidFill>
                <a:latin typeface="Arial"/>
              </a:defRPr>
            </a:pPr>
            <a:r>
              <a:t>3. Dominance of Physical Drivers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Empirical Validation: </a:t>
            </a:r>
            <a:r>
              <a:rPr>
                <a:solidFill>
                  <a:srgbClr val="334155"/>
                </a:solidFill>
              </a:rPr>
              <a:t>Feature importance proved that Battery Capacity (52.6%) and Theoretical Energy Ceiling (38.9%) govern &gt;91% of vehicle range variance.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Model Explainability: </a:t>
            </a:r>
            <a:r>
              <a:rPr>
                <a:solidFill>
                  <a:srgbClr val="334155"/>
                </a:solidFill>
              </a:rPr>
              <a:t>Engineers can clearly interpret why a given range prediction is produced without opaque neural weights.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3931920"/>
            <a:ext cx="5175504" cy="2194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069080"/>
            <a:ext cx="48097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F172A"/>
                </a:solidFill>
                <a:latin typeface="Arial"/>
              </a:defRPr>
            </a:pPr>
            <a:r>
              <a:t>4. Production-Ready Digital Twin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Full-Stack Architecture: </a:t>
            </a:r>
            <a:r>
              <a:rPr>
                <a:solidFill>
                  <a:srgbClr val="334155"/>
                </a:solidFill>
              </a:rPr>
              <a:t>Delivered a complete, deployed microservice ecosystem combining FastAPI with an interactive 3D WebGL automotive cockpit.</a:t>
            </a:r>
          </a:p>
          <a:p>
            <a:pPr>
              <a:spcAft>
                <a:spcPts val="5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Industrial Utility: </a:t>
            </a:r>
            <a:r>
              <a:rPr>
                <a:solidFill>
                  <a:srgbClr val="334155"/>
                </a:solidFill>
              </a:rPr>
              <a:t>Provides a template for automotive OEMs and fleet operators seeking real-time telemetry analytics.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365760"/>
            <a:ext cx="5333695" cy="365760"/>
          </a:xfrm>
          <a:prstGeom prst="rect">
            <a:avLst/>
          </a:prstGeom>
          <a:noFill/>
        </p:spPr>
        <p:txBody>
          <a:bodyPr wrap="square" t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DEPARTMENT OF CSE w/s in AIML | SRM IST Ramapuram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Future Work &amp; Technical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43584"/>
            <a:ext cx="10728655" cy="3200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Physics-Informed Machine Learning (PIML) for EV Range Estimation &amp; 3D Cockpit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450592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1188720" cy="3200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ROADMAP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2084832" cy="685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CAN-Bus IoT Streaming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2176272" cy="3200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  <a:defRPr sz="13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Live Ingestion: </a:t>
            </a:r>
            <a:r>
              <a:rPr>
                <a:solidFill>
                  <a:srgbClr val="334155"/>
                </a:solidFill>
              </a:rPr>
              <a:t>Integrate OBD-II Bluetooth adapters to ingest real-time vehicular CAN-bus data.</a:t>
            </a:r>
          </a:p>
          <a:p>
            <a:pPr>
              <a:spcAft>
                <a:spcPts val="900"/>
              </a:spcAft>
              <a:defRPr sz="13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Telemetry Streams: </a:t>
            </a:r>
            <a:r>
              <a:rPr>
                <a:solidFill>
                  <a:srgbClr val="334155"/>
                </a:solidFill>
              </a:rPr>
              <a:t>Stream motor RPM, cell temperature, and pedal position over MQTT / WebSockets.</a:t>
            </a:r>
          </a:p>
          <a:p>
            <a:pPr>
              <a:spcAft>
                <a:spcPts val="900"/>
              </a:spcAft>
              <a:defRPr sz="13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Dynamic Calibration: </a:t>
            </a:r>
            <a:r>
              <a:rPr>
                <a:solidFill>
                  <a:srgbClr val="334155"/>
                </a:solidFill>
              </a:rPr>
              <a:t>Continuously adapt prediction weights to driver aggression.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1463040"/>
            <a:ext cx="2450592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75888" y="1645920"/>
            <a:ext cx="118872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ROADMAP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2057400"/>
            <a:ext cx="2084832" cy="685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Geospatial Elevation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743200"/>
            <a:ext cx="2176272" cy="3200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  <a:defRPr sz="13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Topographic Maps: </a:t>
            </a:r>
            <a:r>
              <a:rPr>
                <a:solidFill>
                  <a:srgbClr val="334155"/>
                </a:solidFill>
              </a:rPr>
              <a:t>Integrate Mapbox / OSM 3D elevation profiles for planned navigation routes.</a:t>
            </a:r>
          </a:p>
          <a:p>
            <a:pPr>
              <a:spcAft>
                <a:spcPts val="900"/>
              </a:spcAft>
              <a:defRPr sz="13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Potential Energy: </a:t>
            </a:r>
            <a:r>
              <a:rPr>
                <a:solidFill>
                  <a:srgbClr val="334155"/>
                </a:solidFill>
              </a:rPr>
              <a:t>Model gravitational work (ΔE = m * g * Δh) on steep ascents.</a:t>
            </a:r>
          </a:p>
          <a:p>
            <a:pPr>
              <a:spcAft>
                <a:spcPts val="900"/>
              </a:spcAft>
              <a:defRPr sz="13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Regenerative Braking: </a:t>
            </a:r>
            <a:r>
              <a:rPr>
                <a:solidFill>
                  <a:srgbClr val="334155"/>
                </a:solidFill>
              </a:rPr>
              <a:t>Quantify kinetic energy recovered during downhill descents.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1463040"/>
            <a:ext cx="2450592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37376" y="1645920"/>
            <a:ext cx="1188720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ROADMAP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057400"/>
            <a:ext cx="2084832" cy="685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HVAC &amp; Climate Curves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743200"/>
            <a:ext cx="2176272" cy="3200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  <a:defRPr sz="13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Extreme Weather: </a:t>
            </a:r>
            <a:r>
              <a:rPr>
                <a:solidFill>
                  <a:srgbClr val="334155"/>
                </a:solidFill>
              </a:rPr>
              <a:t>Incorporate ambient temperature curves (-20°C winter to 45°C summer).</a:t>
            </a:r>
          </a:p>
          <a:p>
            <a:pPr>
              <a:spcAft>
                <a:spcPts val="900"/>
              </a:spcAft>
              <a:defRPr sz="13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Cabin Climate: </a:t>
            </a:r>
            <a:r>
              <a:rPr>
                <a:solidFill>
                  <a:srgbClr val="334155"/>
                </a:solidFill>
              </a:rPr>
              <a:t>Model heat pump Coefficient of Performance (COP) and PTC resistive heater draw.</a:t>
            </a:r>
          </a:p>
          <a:p>
            <a:pPr>
              <a:spcAft>
                <a:spcPts val="900"/>
              </a:spcAft>
              <a:defRPr sz="13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Pre-conditioning: </a:t>
            </a:r>
            <a:r>
              <a:rPr>
                <a:solidFill>
                  <a:srgbClr val="334155"/>
                </a:solidFill>
              </a:rPr>
              <a:t>Simulate battery pack thermal pre-conditioning benefits.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5984" y="1463040"/>
            <a:ext cx="2450592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98864" y="1645920"/>
            <a:ext cx="118872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ROADMAP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2057400"/>
            <a:ext cx="2084832" cy="685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Edge ECU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743200"/>
            <a:ext cx="2176272" cy="3200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900"/>
              </a:spcAft>
              <a:defRPr sz="13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Model Quantization: </a:t>
            </a:r>
            <a:r>
              <a:rPr>
                <a:solidFill>
                  <a:srgbClr val="334155"/>
                </a:solidFill>
              </a:rPr>
              <a:t>Convert Scikit-Learn pipelines to ONNX Runtime and TensorFlow Lite.</a:t>
            </a:r>
          </a:p>
          <a:p>
            <a:pPr>
              <a:spcAft>
                <a:spcPts val="900"/>
              </a:spcAft>
              <a:defRPr sz="13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Embedded Hardware: </a:t>
            </a:r>
            <a:r>
              <a:rPr>
                <a:solidFill>
                  <a:srgbClr val="334155"/>
                </a:solidFill>
              </a:rPr>
              <a:t>Deploy inference models onto automotive-grade microcontrollers (ARM Cortex).</a:t>
            </a:r>
          </a:p>
          <a:p>
            <a:pPr>
              <a:spcAft>
                <a:spcPts val="900"/>
              </a:spcAft>
              <a:defRPr sz="13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Offline Resilience: </a:t>
            </a:r>
            <a:r>
              <a:rPr>
                <a:solidFill>
                  <a:srgbClr val="334155"/>
                </a:solidFill>
              </a:rPr>
              <a:t>Enable zero-latency, cloud-independent range estimation in-vehicle.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365760"/>
            <a:ext cx="5333695" cy="365760"/>
          </a:xfrm>
          <a:prstGeom prst="rect">
            <a:avLst/>
          </a:prstGeom>
          <a:noFill/>
        </p:spPr>
        <p:txBody>
          <a:bodyPr wrap="square" t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DEPARTMENT OF CSE w/s in AIML | SRM IST Ramapuram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Academic References &amp; Cited Literature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43584"/>
            <a:ext cx="10728655" cy="3200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Physics-Informed Machine Learning (PIML) for EV Range Estimation &amp; 3D Cockpit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101800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1. Zhang, Y., et al. (2022).</a:t>
            </a:r>
            <a:r>
              <a:rPr>
                <a:solidFill>
                  <a:srgbClr val="334155"/>
                </a:solidFill>
              </a:rPr>
              <a:t> 'A Deep Learning Framework for Electric Vehicle Energy Consumption Prediction Based on Multi-Source Data.' IEEE Transactions on Intelligent Transportation Systems, 23(8), pp. 12345-12356. DOI: 10.1109/TITS.2022.3168921.</a:t>
            </a:r>
          </a:p>
          <a:p>
            <a:pPr>
              <a:spcAft>
                <a:spcPts val="12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2. Alvarez, R., &amp; Garcia, F. (2021).</a:t>
            </a:r>
            <a:r>
              <a:rPr>
                <a:solidFill>
                  <a:srgbClr val="334155"/>
                </a:solidFill>
              </a:rPr>
              <a:t> 'Electric Vehicle Driving Range Estimation Using Machine Learning and Fleet Telemetry.' Applied Energy, 290, 116743. DOI: 10.1016/j.apenergy.2021.116743.</a:t>
            </a:r>
          </a:p>
          <a:p>
            <a:pPr>
              <a:spcAft>
                <a:spcPts val="12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3. Karniadakis, G. E., et al. (2021).</a:t>
            </a:r>
            <a:r>
              <a:rPr>
                <a:solidFill>
                  <a:srgbClr val="334155"/>
                </a:solidFill>
              </a:rPr>
              <a:t> 'Physics-informed machine learning.' Nature Reviews Physics, 3(6), pp. 422-440. DOI: 10.1038/s42254-021-00314-5.</a:t>
            </a:r>
          </a:p>
          <a:p>
            <a:pPr>
              <a:spcAft>
                <a:spcPts val="12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4. Chen, T., &amp; Guestrin, C. (2016).</a:t>
            </a:r>
            <a:r>
              <a:rPr>
                <a:solidFill>
                  <a:srgbClr val="334155"/>
                </a:solidFill>
              </a:rPr>
              <a:t> 'XGBoost: A Scalable Tree Boosting System.' In Proceedings of the 22nd ACM SIGKDD International Conference on Knowledge Discovery and Data Mining, pp. 785-794.</a:t>
            </a:r>
          </a:p>
          <a:p>
            <a:pPr>
              <a:spcAft>
                <a:spcPts val="12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5. European Environment Agency (2023).</a:t>
            </a:r>
            <a:r>
              <a:rPr>
                <a:solidFill>
                  <a:srgbClr val="334155"/>
                </a:solidFill>
              </a:rPr>
              <a:t> 'Electric Vehicle Efficiency and Real-World Range Assessment in the European Union.' EEA Technical Report No. 14/2023, Copenhagen, Denmark.</a:t>
            </a:r>
          </a:p>
          <a:p>
            <a:pPr>
              <a:spcAft>
                <a:spcPts val="1200"/>
              </a:spcAft>
              <a:defRPr sz="14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6. Pedregosa, F., et al. (2011).</a:t>
            </a:r>
            <a:r>
              <a:rPr>
                <a:solidFill>
                  <a:srgbClr val="334155"/>
                </a:solidFill>
              </a:rPr>
              <a:t> 'Scikit-learn: Machine Learning in Python.' Journal of Machine Learning Research, 12, pp. 2825-2830.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SRM INSTITUTE OF SCIENCE AND TECHNOLOGY | DEPARTMENT OF CSE (AIML)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  <a:p>
            <a:pPr>
              <a:spcBef>
                <a:spcPts val="800"/>
              </a:spcBef>
              <a:defRPr sz="2200">
                <a:solidFill>
                  <a:srgbClr val="CBD5E1"/>
                </a:solidFill>
                <a:latin typeface="Arial"/>
              </a:defRPr>
            </a:pPr>
            <a:r>
              <a:t>Questions, Feedback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5175504" cy="28346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480974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PROJECT SUMMARY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Physics-Informed Machine Learning (PIML) for EV Range Estimation</a:t>
            </a:r>
          </a:p>
          <a:p>
            <a:pPr>
              <a:spcBef>
                <a:spcPts val="800"/>
              </a:spcBef>
              <a:defRPr sz="1350">
                <a:solidFill>
                  <a:srgbClr val="E2E8F0"/>
                </a:solidFill>
                <a:latin typeface="Arial"/>
              </a:defRPr>
            </a:pPr>
            <a:r>
              <a:t>• Champion Random Forest: R² = 0.9571 | MAE = 15.88 km</a:t>
            </a:r>
            <a:br/>
            <a:r>
              <a:t>• First-Principles: Thermodynamic ceiling &amp; quadratic drag</a:t>
            </a:r>
            <a:br/>
            <a:r>
              <a:t>• Presented by: Kishore M &amp; Team</a:t>
            </a:r>
            <a:br/>
            <a:r>
              <a:t>• SRM IST Ramapuram Campus, Chennai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3383280"/>
            <a:ext cx="5175504" cy="28346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3566160"/>
            <a:ext cx="480974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LIVE SYSTEM &amp; DEMO INTERFACES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🏎️ Live 3D Interactive Cockpit:</a:t>
            </a:r>
          </a:p>
          <a:p>
            <a:pPr>
              <a:defRPr sz="1300">
                <a:solidFill>
                  <a:srgbClr val="38BDF8"/>
                </a:solidFill>
                <a:latin typeface="Consolas"/>
              </a:defRPr>
            </a:pPr>
            <a:r>
              <a:t>http://localhost:5173  (Vercel SPA Ready)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⚡ FastAPI OpenAPI Swagger Docs:</a:t>
            </a:r>
          </a:p>
          <a:p>
            <a:pPr>
              <a:defRPr sz="1300">
                <a:solidFill>
                  <a:srgbClr val="38BDF8"/>
                </a:solidFill>
                <a:latin typeface="Consolas"/>
              </a:defRPr>
            </a:pPr>
            <a:r>
              <a:t>http://localhost:8000/docs  (Sub-15ms Latency)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